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7" r:id="rId4"/>
    <p:sldMasterId id="2147483660" r:id="rId5"/>
    <p:sldMasterId id="2147483662" r:id="rId6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82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/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7020" y="238968"/>
            <a:ext cx="1051286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2400" b="1">
                <a:ln>
                  <a:noFill/>
                </a:ln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defRPr>
            </a:lvl1pPr>
          </a:lstStyle>
          <a:p>
            <a:pPr marL="0" algn="l">
              <a:buNone/>
            </a:pPr>
            <a:r>
              <a:t>单击此处编辑母版标题</a:t>
            </a:r>
            <a:r>
              <a:t>24pt</a:t>
            </a:r>
            <a:r>
              <a:t>（</a:t>
            </a:r>
            <a:r>
              <a:t>15</a:t>
            </a:r>
            <a:r>
              <a:t>字</a:t>
            </a:r>
            <a:r>
              <a:t>以内）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222935"/>
            <a:ext cx="103909" cy="492442"/>
          </a:xfrm>
          <a:prstGeom prst="rect">
            <a:avLst/>
          </a:prstGeom>
          <a:solidFill>
            <a:srgbClr val="FF821E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57020" y="238968"/>
            <a:ext cx="1051286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2400" b="1">
                <a:ln>
                  <a:noFill/>
                </a:ln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defRPr>
            </a:lvl1pPr>
          </a:lstStyle>
          <a:p>
            <a:pPr marL="0" algn="l">
              <a:buNone/>
            </a:pPr>
            <a:r>
              <a:t>单击此处编辑母版标题</a:t>
            </a:r>
            <a:r>
              <a:t>24pt</a:t>
            </a:r>
            <a:r>
              <a:t>（</a:t>
            </a:r>
            <a:r>
              <a:t>15</a:t>
            </a:r>
            <a:r>
              <a:t>字</a:t>
            </a:r>
            <a:r>
              <a:t>以内）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222935"/>
            <a:ext cx="103909" cy="492442"/>
          </a:xfrm>
          <a:prstGeom prst="rect">
            <a:avLst/>
          </a:prstGeom>
          <a:solidFill>
            <a:srgbClr val="FF821E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14286" y="721092"/>
            <a:ext cx="9832998" cy="0"/>
          </a:xfrm>
          <a:prstGeom prst="line">
            <a:avLst/>
          </a:prstGeom>
          <a:ln w="9525">
            <a:solidFill>
              <a:srgbClr val="FF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57020" y="222934"/>
            <a:ext cx="1051286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2400" b="1"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defRPr>
            </a:lvl1pPr>
          </a:lstStyle>
          <a:p>
            <a:pPr marL="0" algn="l">
              <a:buNone/>
            </a:pPr>
            <a:r>
              <a:t>单击此处编辑母版标题</a:t>
            </a:r>
            <a:r>
              <a:t>24pt</a:t>
            </a:r>
            <a:r>
              <a:t>（</a:t>
            </a:r>
            <a:r>
              <a:t>15</a:t>
            </a:r>
            <a:r>
              <a:t>字</a:t>
            </a:r>
            <a:r>
              <a:t>以内）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3139440" y="2967990"/>
            <a:ext cx="5908675" cy="9220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608965">
              <a:buNone/>
              <a:defRPr sz="4400" b="1" spc="300">
                <a:gradFill flip="none" rotWithShape="1">
                  <a:gsLst>
                    <a:gs pos="15000">
                      <a:srgbClr val="142657"/>
                    </a:gs>
                    <a:gs pos="48000">
                      <a:srgbClr val="0270C5"/>
                    </a:gs>
                    <a:gs pos="46000">
                      <a:srgbClr val="043A95"/>
                    </a:gs>
                    <a:gs pos="100000">
                      <a:srgbClr val="142657"/>
                    </a:gs>
                    <a:gs pos="68000">
                      <a:srgbClr val="043A95"/>
                    </a:gs>
                  </a:gsLst>
                  <a:lin ang="1602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sz="5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/>
                <a:ea typeface="阿里巴巴普惠体"/>
                <a:cs typeface="阿里巴巴普惠体"/>
              </a:rPr>
              <a:t>THANKS</a:t>
            </a:r>
            <a:endParaRPr sz="5400">
              <a:solidFill>
                <a:schemeClr val="tx1">
                  <a:lumMod val="85000"/>
                  <a:lumOff val="15000"/>
                </a:schemeClr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3811270" y="6117590"/>
            <a:ext cx="4566285" cy="220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/>
                <a:ea typeface="阿里巴巴普惠体"/>
                <a:cs typeface="阿里巴巴普惠体"/>
              </a:rPr>
              <a:t>北京海量数据技术股份有限公司</a:t>
            </a:r>
            <a:endParaRPr sz="1200">
              <a:solidFill>
                <a:schemeClr val="tx1">
                  <a:lumMod val="65000"/>
                  <a:lumOff val="35000"/>
                </a:schemeClr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357020" y="238968"/>
            <a:ext cx="1051286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2400" b="1">
                <a:ln>
                  <a:noFill/>
                </a:ln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defRPr>
            </a:lvl1pPr>
          </a:lstStyle>
          <a:p>
            <a:pPr marL="0" algn="l">
              <a:buNone/>
            </a:pPr>
            <a:r>
              <a:t>单击此处编辑母版标题</a:t>
            </a:r>
            <a:r>
              <a:t>24pt</a:t>
            </a:r>
            <a:r>
              <a:t>（</a:t>
            </a:r>
            <a:r>
              <a:t>15</a:t>
            </a:r>
            <a:r>
              <a:t>字</a:t>
            </a:r>
            <a:r>
              <a:t>以内）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/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/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7020" y="238968"/>
            <a:ext cx="1051286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2400" b="1">
                <a:ln>
                  <a:noFill/>
                </a:ln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defRPr>
            </a:lvl1pPr>
          </a:lstStyle>
          <a:p>
            <a:pPr marL="0" algn="l">
              <a:buNone/>
            </a:pPr>
            <a:r>
              <a:t>单击此处编辑母版标题</a:t>
            </a:r>
            <a:r>
              <a:t>24pt</a:t>
            </a:r>
            <a:r>
              <a:t>（</a:t>
            </a:r>
            <a:r>
              <a:t>15</a:t>
            </a:r>
            <a:r>
              <a:t>字</a:t>
            </a:r>
            <a:r>
              <a:t>以内）</a:t>
            </a: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222935"/>
            <a:ext cx="103909" cy="492442"/>
          </a:xfrm>
          <a:prstGeom prst="rect">
            <a:avLst/>
          </a:prstGeom>
          <a:solidFill>
            <a:srgbClr val="FF821E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57020" y="238968"/>
            <a:ext cx="1051286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2400" b="1">
                <a:ln>
                  <a:noFill/>
                </a:ln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defRPr>
            </a:lvl1pPr>
          </a:lstStyle>
          <a:p>
            <a:pPr marL="0" algn="l">
              <a:buNone/>
            </a:pPr>
            <a:r>
              <a:t>单击此处编辑母版标题</a:t>
            </a:r>
            <a:r>
              <a:t>24pt</a:t>
            </a:r>
            <a:r>
              <a:t>（</a:t>
            </a:r>
            <a:r>
              <a:t>15</a:t>
            </a:r>
            <a:r>
              <a:t>字</a:t>
            </a:r>
            <a:r>
              <a:t>以内）</a:t>
            </a: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222935"/>
            <a:ext cx="103909" cy="492442"/>
          </a:xfrm>
          <a:prstGeom prst="rect">
            <a:avLst/>
          </a:prstGeom>
          <a:solidFill>
            <a:srgbClr val="FF821E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414286" y="721092"/>
            <a:ext cx="9832998" cy="0"/>
          </a:xfrm>
          <a:prstGeom prst="line">
            <a:avLst/>
          </a:prstGeom>
          <a:ln w="9525">
            <a:solidFill>
              <a:srgbClr val="FF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57020" y="222934"/>
            <a:ext cx="1051286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buNone/>
              <a:defRPr sz="2400" b="1"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defRPr>
            </a:lvl1pPr>
          </a:lstStyle>
          <a:p>
            <a:pPr marL="0" algn="l">
              <a:buNone/>
            </a:pPr>
            <a:r>
              <a:t>单击此处编辑母版标题</a:t>
            </a:r>
            <a:r>
              <a:t>24pt</a:t>
            </a:r>
            <a:r>
              <a:t>（</a:t>
            </a:r>
            <a:r>
              <a:t>15</a:t>
            </a:r>
            <a:r>
              <a:t>字</a:t>
            </a:r>
            <a:r>
              <a:t>以内）</a:t>
            </a: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3" name="文本框 2"/>
          <p:cNvSpPr>
            <a:spLocks noGrp="1"/>
          </p:cNvSpPr>
          <p:nvPr/>
        </p:nvSpPr>
        <p:spPr>
          <a:xfrm>
            <a:off x="3139440" y="2967990"/>
            <a:ext cx="5908675" cy="9220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608965">
              <a:buNone/>
              <a:defRPr sz="4400" b="1" spc="300">
                <a:gradFill flip="none" rotWithShape="1">
                  <a:gsLst>
                    <a:gs pos="15000">
                      <a:srgbClr val="142657"/>
                    </a:gs>
                    <a:gs pos="48000">
                      <a:srgbClr val="0270C5"/>
                    </a:gs>
                    <a:gs pos="46000">
                      <a:srgbClr val="043A95"/>
                    </a:gs>
                    <a:gs pos="100000">
                      <a:srgbClr val="142657"/>
                    </a:gs>
                    <a:gs pos="68000">
                      <a:srgbClr val="043A95"/>
                    </a:gs>
                  </a:gsLst>
                  <a:lin ang="1602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sz="5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/>
                <a:ea typeface="阿里巴巴普惠体"/>
                <a:cs typeface="阿里巴巴普惠体"/>
              </a:rPr>
              <a:t>THANKS</a:t>
            </a:r>
            <a:endParaRPr sz="5400">
              <a:solidFill>
                <a:schemeClr val="tx1">
                  <a:lumMod val="85000"/>
                  <a:lumOff val="15000"/>
                </a:schemeClr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3811270" y="6117590"/>
            <a:ext cx="4566285" cy="220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/>
                <a:ea typeface="阿里巴巴普惠体"/>
                <a:cs typeface="阿里巴巴普惠体"/>
              </a:rPr>
              <a:t>北京海量数据技术股份有限公司</a:t>
            </a:r>
            <a:endParaRPr sz="1200">
              <a:solidFill>
                <a:schemeClr val="tx1">
                  <a:lumMod val="65000"/>
                  <a:lumOff val="35000"/>
                </a:schemeClr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2.png"/><Relationship Id="rId7" Type="http://schemas.openxmlformats.org/officeDocument/2006/relationships/image" Target="../media/image3.png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heme" Target="../theme/theme5.xml"/><Relationship Id="rId8" Type="http://schemas.openxmlformats.org/officeDocument/2006/relationships/image" Target="../media/image2.png"/><Relationship Id="rId7" Type="http://schemas.openxmlformats.org/officeDocument/2006/relationships/image" Target="../media/image3.png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85000"/>
                <a:alpha val="62000"/>
              </a:schemeClr>
            </a:gs>
          </a:gsLst>
          <a:lin ang="486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-1746250" y="6446520"/>
            <a:ext cx="716915" cy="4318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-890270" y="5866765"/>
            <a:ext cx="716915" cy="431800"/>
          </a:xfrm>
          <a:prstGeom prst="rect">
            <a:avLst/>
          </a:prstGeom>
          <a:solidFill>
            <a:srgbClr val="FF9000">
              <a:lumMod val="60000"/>
              <a:lumOff val="4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-890270" y="6446520"/>
            <a:ext cx="716915" cy="431800"/>
          </a:xfrm>
          <a:prstGeom prst="rect">
            <a:avLst/>
          </a:prstGeom>
          <a:solidFill>
            <a:srgbClr val="FF9000">
              <a:lumMod val="20000"/>
              <a:lumOff val="8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-1746250" y="5866765"/>
            <a:ext cx="716915" cy="4318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-1746250" y="5287010"/>
            <a:ext cx="716915" cy="431800"/>
          </a:xfrm>
          <a:prstGeom prst="rect">
            <a:avLst/>
          </a:prstGeom>
          <a:solidFill>
            <a:sysClr val="windowText" lastClr="000000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-881380" y="5287010"/>
            <a:ext cx="716915" cy="431800"/>
          </a:xfrm>
          <a:prstGeom prst="rect">
            <a:avLst/>
          </a:prstGeom>
          <a:solidFill>
            <a:srgbClr val="FF821E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-88138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海量橙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-174625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辅助色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pic>
        <p:nvPicPr>
          <p:cNvPr id="34" name="图片 1"/>
          <p:cNvPicPr>
            <a:picLocks noChangeAspect="1"/>
          </p:cNvPicPr>
          <p:nvPr/>
        </p:nvPicPr>
        <p:blipFill>
          <a:blip r:embed="rId2">
            <a:alphaModFix amt="90000"/>
          </a:blip>
          <a:srcRect r="17674"/>
          <a:stretch>
            <a:fillRect/>
          </a:stretch>
        </p:blipFill>
        <p:spPr>
          <a:xfrm>
            <a:off x="6219825" y="349885"/>
            <a:ext cx="5969000" cy="6128385"/>
          </a:xfrm>
          <a:prstGeom prst="rect">
            <a:avLst/>
          </a:prstGeom>
        </p:spPr>
      </p:pic>
      <p:pic>
        <p:nvPicPr>
          <p:cNvPr id="35" name="图片 11"/>
          <p:cNvPicPr>
            <a:picLocks noChangeAspect="1"/>
          </p:cNvPicPr>
          <p:nvPr/>
        </p:nvPicPr>
        <p:blipFill>
          <a:blip r:embed="rId3"/>
          <a:srcRect l="7728" t="26269" r="8180" b="25769"/>
          <a:stretch>
            <a:fillRect/>
          </a:stretch>
        </p:blipFill>
        <p:spPr>
          <a:xfrm>
            <a:off x="502285" y="528955"/>
            <a:ext cx="1829435" cy="7378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5995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67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39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1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83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493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09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1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53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25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1997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69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lumMod val="85000"/>
                <a:alpha val="62000"/>
              </a:schemeClr>
            </a:gs>
          </a:gsLst>
          <a:lin ang="486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3"/>
          <p:cNvPicPr>
            <a:picLocks noChangeAspect="1"/>
          </p:cNvPicPr>
          <p:nvPr/>
        </p:nvPicPr>
        <p:blipFill>
          <a:blip r:embed="rId7"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29612" y="5379394"/>
            <a:ext cx="2145047" cy="1938873"/>
          </a:xfrm>
          <a:prstGeom prst="rect">
            <a:avLst/>
          </a:prstGeom>
        </p:spPr>
      </p:pic>
      <p:pic>
        <p:nvPicPr>
          <p:cNvPr id="27" name="图片 14"/>
          <p:cNvPicPr>
            <a:picLocks noChangeAspect="1"/>
          </p:cNvPicPr>
          <p:nvPr/>
        </p:nvPicPr>
        <p:blipFill>
          <a:blip r:embed="rId8"/>
          <a:srcRect l="7728" t="29241" r="8180" b="31011"/>
          <a:stretch>
            <a:fillRect/>
          </a:stretch>
        </p:blipFill>
        <p:spPr>
          <a:xfrm>
            <a:off x="10410190" y="205105"/>
            <a:ext cx="1539240" cy="5143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-1746250" y="6446520"/>
            <a:ext cx="716915" cy="4318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-890270" y="5866765"/>
            <a:ext cx="716915" cy="431800"/>
          </a:xfrm>
          <a:prstGeom prst="rect">
            <a:avLst/>
          </a:prstGeom>
          <a:solidFill>
            <a:srgbClr val="FF9000">
              <a:lumMod val="60000"/>
              <a:lumOff val="4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-890270" y="6446520"/>
            <a:ext cx="716915" cy="431800"/>
          </a:xfrm>
          <a:prstGeom prst="rect">
            <a:avLst/>
          </a:prstGeom>
          <a:solidFill>
            <a:srgbClr val="FF9000">
              <a:lumMod val="20000"/>
              <a:lumOff val="8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-1746250" y="5866765"/>
            <a:ext cx="716915" cy="4318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-1746250" y="5287010"/>
            <a:ext cx="716915" cy="431800"/>
          </a:xfrm>
          <a:prstGeom prst="rect">
            <a:avLst/>
          </a:prstGeom>
          <a:solidFill>
            <a:sysClr val="windowText" lastClr="000000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-881380" y="5287010"/>
            <a:ext cx="716915" cy="431800"/>
          </a:xfrm>
          <a:prstGeom prst="rect">
            <a:avLst/>
          </a:prstGeom>
          <a:solidFill>
            <a:srgbClr val="FF821E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-88138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海量橙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-174625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辅助色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5" name="TextBox 45"/>
          <p:cNvSpPr>
            <a:spLocks noGrp="1"/>
          </p:cNvSpPr>
          <p:nvPr/>
        </p:nvSpPr>
        <p:spPr>
          <a:xfrm>
            <a:off x="122555" y="6529705"/>
            <a:ext cx="342900" cy="14224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lvl1pPr algn="ctr" defTabSz="608965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457200" indent="-457200" algn="l" defTabSz="608965">
        <a:spcBef>
          <a:spcPct val="20000"/>
        </a:spcBef>
        <a:buFont typeface="Arial" panose="020B0604020202020204"/>
        <a:buChar char="•"/>
        <a:defRPr sz="4300" kern="1200">
          <a:solidFill>
            <a:schemeClr val="tx1"/>
          </a:solidFill>
          <a:latin typeface="+mn-lt"/>
          <a:ea typeface="+mn-lt"/>
          <a:cs typeface="+mn-lt"/>
        </a:defRPr>
      </a:lvl1pPr>
      <a:lvl2pPr marL="989965" indent="-381000" algn="l" defTabSz="608965">
        <a:spcBef>
          <a:spcPct val="20000"/>
        </a:spcBef>
        <a:buFont typeface="Arial" panose="020B0604020202020204"/>
        <a:buChar char="–"/>
        <a:defRPr sz="3700" kern="1200">
          <a:solidFill>
            <a:schemeClr val="tx1"/>
          </a:solidFill>
          <a:latin typeface="+mn-lt"/>
          <a:ea typeface="+mn-lt"/>
          <a:cs typeface="+mn-lt"/>
        </a:defRPr>
      </a:lvl2pPr>
      <a:lvl3pPr marL="1523365" indent="-304800" algn="l" defTabSz="608965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3pPr>
      <a:lvl4pPr marL="2132330" indent="-304800" algn="l" defTabSz="608965">
        <a:spcBef>
          <a:spcPct val="20000"/>
        </a:spcBef>
        <a:buFont typeface="Arial" panose="020B0604020202020204"/>
        <a:buChar char="–"/>
        <a:defRPr sz="2700" kern="1200">
          <a:solidFill>
            <a:schemeClr val="tx1"/>
          </a:solidFill>
          <a:latin typeface="+mn-lt"/>
          <a:ea typeface="+mn-lt"/>
          <a:cs typeface="+mn-lt"/>
        </a:defRPr>
      </a:lvl4pPr>
      <a:lvl5pPr marL="2741295" indent="-304800" algn="l" defTabSz="608965">
        <a:spcBef>
          <a:spcPct val="20000"/>
        </a:spcBef>
        <a:buFont typeface="Arial" panose="020B0604020202020204"/>
        <a:buChar char="»"/>
        <a:defRPr sz="2700" kern="1200">
          <a:solidFill>
            <a:schemeClr val="tx1"/>
          </a:solidFill>
          <a:latin typeface="+mn-lt"/>
          <a:ea typeface="+mn-lt"/>
          <a:cs typeface="+mn-lt"/>
        </a:defRPr>
      </a:lvl5pPr>
      <a:lvl6pPr marL="3350895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6pPr>
      <a:lvl7pPr marL="3959860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7pPr>
      <a:lvl8pPr marL="4569460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8pPr>
      <a:lvl9pPr marL="5178425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896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856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753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713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609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569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466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362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85000"/>
                <a:alpha val="62000"/>
              </a:schemeClr>
            </a:gs>
          </a:gsLst>
          <a:lin ang="486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-1746250" y="6446520"/>
            <a:ext cx="716915" cy="4318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-890270" y="5866765"/>
            <a:ext cx="716915" cy="431800"/>
          </a:xfrm>
          <a:prstGeom prst="rect">
            <a:avLst/>
          </a:prstGeom>
          <a:solidFill>
            <a:srgbClr val="FF9000">
              <a:lumMod val="60000"/>
              <a:lumOff val="4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-890270" y="6446520"/>
            <a:ext cx="716915" cy="431800"/>
          </a:xfrm>
          <a:prstGeom prst="rect">
            <a:avLst/>
          </a:prstGeom>
          <a:solidFill>
            <a:srgbClr val="FF9000">
              <a:lumMod val="20000"/>
              <a:lumOff val="8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-1746250" y="5866765"/>
            <a:ext cx="716915" cy="4318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-1746250" y="5287010"/>
            <a:ext cx="716915" cy="431800"/>
          </a:xfrm>
          <a:prstGeom prst="rect">
            <a:avLst/>
          </a:prstGeom>
          <a:solidFill>
            <a:sysClr val="windowText" lastClr="000000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-881380" y="5287010"/>
            <a:ext cx="716915" cy="431800"/>
          </a:xfrm>
          <a:prstGeom prst="rect">
            <a:avLst/>
          </a:prstGeom>
          <a:solidFill>
            <a:srgbClr val="FF821E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-88138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海量橙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-174625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辅助色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5" name="TextBox 45"/>
          <p:cNvSpPr>
            <a:spLocks noGrp="1"/>
          </p:cNvSpPr>
          <p:nvPr/>
        </p:nvSpPr>
        <p:spPr>
          <a:xfrm>
            <a:off x="122555" y="6529705"/>
            <a:ext cx="342900" cy="14224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5995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67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39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1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836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493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09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1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53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25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1997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6965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lumMod val="85000"/>
                <a:alpha val="62000"/>
              </a:schemeClr>
            </a:gs>
          </a:gsLst>
          <a:lin ang="486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3"/>
          <p:cNvPicPr>
            <a:picLocks noChangeAspect="1"/>
          </p:cNvPicPr>
          <p:nvPr/>
        </p:nvPicPr>
        <p:blipFill>
          <a:blip r:embed="rId2"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29612" y="5379394"/>
            <a:ext cx="2145047" cy="1938873"/>
          </a:xfrm>
          <a:prstGeom prst="rect">
            <a:avLst/>
          </a:prstGeom>
        </p:spPr>
      </p:pic>
      <p:pic>
        <p:nvPicPr>
          <p:cNvPr id="27" name="图片 14"/>
          <p:cNvPicPr>
            <a:picLocks noChangeAspect="1"/>
          </p:cNvPicPr>
          <p:nvPr/>
        </p:nvPicPr>
        <p:blipFill>
          <a:blip r:embed="rId3"/>
          <a:srcRect l="7728" t="29241" r="8180" b="31011"/>
          <a:stretch>
            <a:fillRect/>
          </a:stretch>
        </p:blipFill>
        <p:spPr>
          <a:xfrm>
            <a:off x="10410190" y="205105"/>
            <a:ext cx="1539240" cy="5143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-1746250" y="6446520"/>
            <a:ext cx="716915" cy="4318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-890270" y="5866765"/>
            <a:ext cx="716915" cy="431800"/>
          </a:xfrm>
          <a:prstGeom prst="rect">
            <a:avLst/>
          </a:prstGeom>
          <a:solidFill>
            <a:srgbClr val="FF9000">
              <a:lumMod val="60000"/>
              <a:lumOff val="4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-890270" y="6446520"/>
            <a:ext cx="716915" cy="431800"/>
          </a:xfrm>
          <a:prstGeom prst="rect">
            <a:avLst/>
          </a:prstGeom>
          <a:solidFill>
            <a:srgbClr val="FF9000">
              <a:lumMod val="20000"/>
              <a:lumOff val="8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-1746250" y="5866765"/>
            <a:ext cx="716915" cy="4318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-1746250" y="5287010"/>
            <a:ext cx="716915" cy="431800"/>
          </a:xfrm>
          <a:prstGeom prst="rect">
            <a:avLst/>
          </a:prstGeom>
          <a:solidFill>
            <a:sysClr val="windowText" lastClr="000000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-881380" y="5287010"/>
            <a:ext cx="716915" cy="431800"/>
          </a:xfrm>
          <a:prstGeom prst="rect">
            <a:avLst/>
          </a:prstGeom>
          <a:solidFill>
            <a:srgbClr val="FF821E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-88138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海量橙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-174625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辅助色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3139440" y="2967990"/>
            <a:ext cx="5908675" cy="9220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 defTabSz="608965">
              <a:buNone/>
              <a:defRPr sz="4400" b="1" spc="300">
                <a:gradFill flip="none" rotWithShape="1">
                  <a:gsLst>
                    <a:gs pos="15000">
                      <a:srgbClr val="142657"/>
                    </a:gs>
                    <a:gs pos="48000">
                      <a:srgbClr val="0270C5"/>
                    </a:gs>
                    <a:gs pos="46000">
                      <a:srgbClr val="043A95"/>
                    </a:gs>
                    <a:gs pos="100000">
                      <a:srgbClr val="142657"/>
                    </a:gs>
                    <a:gs pos="68000">
                      <a:srgbClr val="043A95"/>
                    </a:gs>
                  </a:gsLst>
                  <a:lin ang="1602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sz="5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/>
                <a:ea typeface="阿里巴巴普惠体"/>
                <a:cs typeface="阿里巴巴普惠体"/>
              </a:rPr>
              <a:t>THANKS</a:t>
            </a:r>
            <a:endParaRPr sz="5400">
              <a:solidFill>
                <a:schemeClr val="tx1">
                  <a:lumMod val="85000"/>
                  <a:lumOff val="15000"/>
                </a:schemeClr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3811270" y="6117590"/>
            <a:ext cx="4566285" cy="220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/>
                <a:ea typeface="阿里巴巴普惠体"/>
                <a:cs typeface="阿里巴巴普惠体"/>
              </a:rPr>
              <a:t>北京海量数据技术股份有限公司</a:t>
            </a:r>
            <a:endParaRPr sz="1200">
              <a:solidFill>
                <a:schemeClr val="tx1">
                  <a:lumMod val="65000"/>
                  <a:lumOff val="35000"/>
                </a:schemeClr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608965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457200" indent="-457200" algn="l" defTabSz="608965">
        <a:spcBef>
          <a:spcPct val="20000"/>
        </a:spcBef>
        <a:buFont typeface="Arial" panose="020B0604020202020204"/>
        <a:buChar char="•"/>
        <a:defRPr sz="4300" kern="1200">
          <a:solidFill>
            <a:schemeClr val="tx1"/>
          </a:solidFill>
          <a:latin typeface="+mn-lt"/>
          <a:ea typeface="+mn-lt"/>
          <a:cs typeface="+mn-lt"/>
        </a:defRPr>
      </a:lvl1pPr>
      <a:lvl2pPr marL="989965" indent="-381000" algn="l" defTabSz="608965">
        <a:spcBef>
          <a:spcPct val="20000"/>
        </a:spcBef>
        <a:buFont typeface="Arial" panose="020B0604020202020204"/>
        <a:buChar char="–"/>
        <a:defRPr sz="3700" kern="1200">
          <a:solidFill>
            <a:schemeClr val="tx1"/>
          </a:solidFill>
          <a:latin typeface="+mn-lt"/>
          <a:ea typeface="+mn-lt"/>
          <a:cs typeface="+mn-lt"/>
        </a:defRPr>
      </a:lvl2pPr>
      <a:lvl3pPr marL="1523365" indent="-304800" algn="l" defTabSz="608965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3pPr>
      <a:lvl4pPr marL="2132330" indent="-304800" algn="l" defTabSz="608965">
        <a:spcBef>
          <a:spcPct val="20000"/>
        </a:spcBef>
        <a:buFont typeface="Arial" panose="020B0604020202020204"/>
        <a:buChar char="–"/>
        <a:defRPr sz="2700" kern="1200">
          <a:solidFill>
            <a:schemeClr val="tx1"/>
          </a:solidFill>
          <a:latin typeface="+mn-lt"/>
          <a:ea typeface="+mn-lt"/>
          <a:cs typeface="+mn-lt"/>
        </a:defRPr>
      </a:lvl4pPr>
      <a:lvl5pPr marL="2741295" indent="-304800" algn="l" defTabSz="608965">
        <a:spcBef>
          <a:spcPct val="20000"/>
        </a:spcBef>
        <a:buFont typeface="Arial" panose="020B0604020202020204"/>
        <a:buChar char="»"/>
        <a:defRPr sz="2700" kern="1200">
          <a:solidFill>
            <a:schemeClr val="tx1"/>
          </a:solidFill>
          <a:latin typeface="+mn-lt"/>
          <a:ea typeface="+mn-lt"/>
          <a:cs typeface="+mn-lt"/>
        </a:defRPr>
      </a:lvl5pPr>
      <a:lvl6pPr marL="3350895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6pPr>
      <a:lvl7pPr marL="3959860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7pPr>
      <a:lvl8pPr marL="4569460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8pPr>
      <a:lvl9pPr marL="5178425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896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856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753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713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609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569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466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362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lumMod val="85000"/>
                <a:alpha val="62000"/>
              </a:schemeClr>
            </a:gs>
          </a:gsLst>
          <a:lin ang="486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3"/>
          <p:cNvPicPr>
            <a:picLocks noChangeAspect="1"/>
          </p:cNvPicPr>
          <p:nvPr/>
        </p:nvPicPr>
        <p:blipFill>
          <a:blip r:embed="rId7"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29612" y="5379394"/>
            <a:ext cx="2145047" cy="1938873"/>
          </a:xfrm>
          <a:prstGeom prst="rect">
            <a:avLst/>
          </a:prstGeom>
        </p:spPr>
      </p:pic>
      <p:pic>
        <p:nvPicPr>
          <p:cNvPr id="27" name="图片 14"/>
          <p:cNvPicPr>
            <a:picLocks noChangeAspect="1"/>
          </p:cNvPicPr>
          <p:nvPr/>
        </p:nvPicPr>
        <p:blipFill>
          <a:blip r:embed="rId8"/>
          <a:srcRect l="7728" t="29241" r="8180" b="31011"/>
          <a:stretch>
            <a:fillRect/>
          </a:stretch>
        </p:blipFill>
        <p:spPr>
          <a:xfrm>
            <a:off x="10410190" y="205105"/>
            <a:ext cx="1539240" cy="5143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-1746250" y="6446520"/>
            <a:ext cx="716915" cy="4318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-890270" y="5866765"/>
            <a:ext cx="716915" cy="431800"/>
          </a:xfrm>
          <a:prstGeom prst="rect">
            <a:avLst/>
          </a:prstGeom>
          <a:solidFill>
            <a:srgbClr val="FF9000">
              <a:lumMod val="60000"/>
              <a:lumOff val="4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-890270" y="6446520"/>
            <a:ext cx="716915" cy="431800"/>
          </a:xfrm>
          <a:prstGeom prst="rect">
            <a:avLst/>
          </a:prstGeom>
          <a:solidFill>
            <a:srgbClr val="FF9000">
              <a:lumMod val="20000"/>
              <a:lumOff val="80000"/>
            </a:srgb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-1746250" y="5866765"/>
            <a:ext cx="716915" cy="4318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-1746250" y="5287010"/>
            <a:ext cx="716915" cy="431800"/>
          </a:xfrm>
          <a:prstGeom prst="rect">
            <a:avLst/>
          </a:prstGeom>
          <a:solidFill>
            <a:sysClr val="windowText" lastClr="000000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-881380" y="5287010"/>
            <a:ext cx="716915" cy="431800"/>
          </a:xfrm>
          <a:prstGeom prst="rect">
            <a:avLst/>
          </a:prstGeom>
          <a:solidFill>
            <a:srgbClr val="FF821E"/>
          </a:solidFill>
          <a:ln w="9525" cmpd="sng">
            <a:noFill/>
            <a:prstDash val="solid"/>
          </a:ln>
        </p:spPr>
        <p:txBody>
          <a:bodyPr/>
          <a:lstStyle/>
          <a:p/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-88138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海量橙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-1746250" y="4863465"/>
            <a:ext cx="6400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阿里巴巴普惠体"/>
                <a:ea typeface="阿里巴巴普惠体"/>
                <a:cs typeface="阿里巴巴普惠体"/>
              </a:rPr>
              <a:t>辅助色</a:t>
            </a:r>
            <a:endParaRPr sz="1200"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5" name="TextBox 45"/>
          <p:cNvSpPr>
            <a:spLocks noGrp="1"/>
          </p:cNvSpPr>
          <p:nvPr/>
        </p:nvSpPr>
        <p:spPr>
          <a:xfrm>
            <a:off x="122555" y="6529705"/>
            <a:ext cx="342900" cy="14224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hdr="0" ftr="0" dt="0"/>
  <p:txStyles>
    <p:titleStyle>
      <a:lvl1pPr algn="ctr" defTabSz="608965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457200" indent="-457200" algn="l" defTabSz="608965">
        <a:spcBef>
          <a:spcPct val="20000"/>
        </a:spcBef>
        <a:buFont typeface="Arial" panose="020B0604020202020204"/>
        <a:buChar char="•"/>
        <a:defRPr sz="4300" kern="1200">
          <a:solidFill>
            <a:schemeClr val="tx1"/>
          </a:solidFill>
          <a:latin typeface="+mn-lt"/>
          <a:ea typeface="+mn-lt"/>
          <a:cs typeface="+mn-lt"/>
        </a:defRPr>
      </a:lvl1pPr>
      <a:lvl2pPr marL="989965" indent="-381000" algn="l" defTabSz="608965">
        <a:spcBef>
          <a:spcPct val="20000"/>
        </a:spcBef>
        <a:buFont typeface="Arial" panose="020B0604020202020204"/>
        <a:buChar char="–"/>
        <a:defRPr sz="3700" kern="1200">
          <a:solidFill>
            <a:schemeClr val="tx1"/>
          </a:solidFill>
          <a:latin typeface="+mn-lt"/>
          <a:ea typeface="+mn-lt"/>
          <a:cs typeface="+mn-lt"/>
        </a:defRPr>
      </a:lvl2pPr>
      <a:lvl3pPr marL="1523365" indent="-304800" algn="l" defTabSz="608965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3pPr>
      <a:lvl4pPr marL="2132330" indent="-304800" algn="l" defTabSz="608965">
        <a:spcBef>
          <a:spcPct val="20000"/>
        </a:spcBef>
        <a:buFont typeface="Arial" panose="020B0604020202020204"/>
        <a:buChar char="–"/>
        <a:defRPr sz="2700" kern="1200">
          <a:solidFill>
            <a:schemeClr val="tx1"/>
          </a:solidFill>
          <a:latin typeface="+mn-lt"/>
          <a:ea typeface="+mn-lt"/>
          <a:cs typeface="+mn-lt"/>
        </a:defRPr>
      </a:lvl4pPr>
      <a:lvl5pPr marL="2741295" indent="-304800" algn="l" defTabSz="608965">
        <a:spcBef>
          <a:spcPct val="20000"/>
        </a:spcBef>
        <a:buFont typeface="Arial" panose="020B0604020202020204"/>
        <a:buChar char="»"/>
        <a:defRPr sz="2700" kern="1200">
          <a:solidFill>
            <a:schemeClr val="tx1"/>
          </a:solidFill>
          <a:latin typeface="+mn-lt"/>
          <a:ea typeface="+mn-lt"/>
          <a:cs typeface="+mn-lt"/>
        </a:defRPr>
      </a:lvl5pPr>
      <a:lvl6pPr marL="3350895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6pPr>
      <a:lvl7pPr marL="3959860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7pPr>
      <a:lvl8pPr marL="4569460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8pPr>
      <a:lvl9pPr marL="5178425" indent="-304800" algn="l" defTabSz="608965">
        <a:spcBef>
          <a:spcPct val="20000"/>
        </a:spcBef>
        <a:buFont typeface="Arial" panose="020B0604020202020204"/>
        <a:buChar char="•"/>
        <a:defRPr sz="27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896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856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753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713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609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569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4660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3625" algn="l" defTabSz="6089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7020" y="222934"/>
            <a:ext cx="10512862" cy="460375"/>
          </a:xfrm>
        </p:spPr>
        <p:txBody>
          <a:bodyPr/>
          <a:lstStyle/>
          <a:p>
            <a:r>
              <a:t>迁移对象、范围与目标拓扑</a:t>
            </a:r>
          </a:p>
        </p:txBody>
      </p:sp>
      <p:sp>
        <p:nvSpPr>
          <p:cNvPr id="6" name="MH_Text_1"/>
          <p:cNvSpPr>
            <a:spLocks noGrp="1"/>
          </p:cNvSpPr>
          <p:nvPr/>
        </p:nvSpPr>
        <p:spPr>
          <a:xfrm>
            <a:off x="357020" y="931525"/>
            <a:ext cx="3277651" cy="2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3462" tIns="0" rIns="133462" bIns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None/>
            </a:pPr>
            <a:r>
              <a:rPr sz="1600" b="1"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rPr>
              <a:t>三套系统、版本路径与合并关系</a:t>
            </a:r>
            <a:endParaRPr sz="1600" b="1">
              <a:solidFill>
                <a:schemeClr val="tx1"/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28625" y="1381125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24445C"/>
                </a:solidFill>
              </a:defRPr>
            </a:pPr>
            <a:r>
              <a:rPr sz="1425" b="1">
                <a:solidFill>
                  <a:srgbClr val="24445C"/>
                </a:solidFill>
              </a:rPr>
              <a:t>业务系统与主备库</a:t>
            </a:r>
            <a:endParaRPr sz="1425" b="1">
              <a:solidFill>
                <a:srgbClr val="24445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8625" y="1695450"/>
            <a:ext cx="1143000" cy="419100"/>
          </a:xfrm>
          <a:prstGeom prst="rect">
            <a:avLst/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571625" y="1695450"/>
            <a:ext cx="3190875" cy="419100"/>
          </a:xfrm>
          <a:prstGeom prst="rect">
            <a:avLst/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762500" y="1695450"/>
            <a:ext cx="6048375" cy="419100"/>
          </a:xfrm>
          <a:prstGeom prst="rect">
            <a:avLst/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810875" y="1695450"/>
            <a:ext cx="0" cy="419100"/>
          </a:xfrm>
          <a:prstGeom prst="rect">
            <a:avLst/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" y="1724025"/>
            <a:ext cx="1066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4445C"/>
                </a:solidFill>
              </a:defRPr>
            </a:pPr>
            <a:r>
              <a:rPr sz="1275" b="1">
                <a:solidFill>
                  <a:srgbClr val="24445C"/>
                </a:solidFill>
              </a:rPr>
              <a:t>ID</a:t>
            </a:r>
            <a:endParaRPr sz="1275" b="1">
              <a:solidFill>
                <a:srgbClr val="24445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00200" y="1724025"/>
            <a:ext cx="31146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4445C"/>
                </a:solidFill>
              </a:defRPr>
            </a:pPr>
            <a:r>
              <a:rPr sz="1275" b="1">
                <a:solidFill>
                  <a:srgbClr val="24445C"/>
                </a:solidFill>
              </a:rPr>
              <a:t>业务系统</a:t>
            </a:r>
            <a:endParaRPr sz="1275" b="1">
              <a:solidFill>
                <a:srgbClr val="24445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91075" y="1724025"/>
            <a:ext cx="5953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4445C"/>
                </a:solidFill>
              </a:defRPr>
            </a:pPr>
            <a:r>
              <a:rPr sz="1275" b="1">
                <a:solidFill>
                  <a:srgbClr val="24445C"/>
                </a:solidFill>
              </a:rPr>
              <a:t>IP</a:t>
            </a:r>
            <a:endParaRPr sz="1275" b="1">
              <a:solidFill>
                <a:srgbClr val="24445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8625" y="211455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PG01</a:t>
            </a:r>
            <a:endParaRPr sz="1200" b="1">
              <a:solidFill>
                <a:srgbClr val="24445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571625" y="2114550"/>
            <a:ext cx="3190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24445C"/>
                </a:solidFill>
              </a:defRPr>
            </a:pPr>
            <a:r>
              <a:rPr sz="1200" b="0">
                <a:solidFill>
                  <a:srgbClr val="24445C"/>
                </a:solidFill>
              </a:rPr>
              <a:t>公交调度主备库（核心）</a:t>
            </a:r>
            <a:endParaRPr sz="1200" b="0">
              <a:solidFill>
                <a:srgbClr val="24445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762500" y="2114550"/>
            <a:ext cx="60483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4445C"/>
                </a:solidFill>
              </a:defRPr>
            </a:pPr>
            <a:r>
              <a:rPr sz="1125" b="0">
                <a:solidFill>
                  <a:srgbClr val="24445C"/>
                </a:solidFill>
              </a:rPr>
              <a:t>192.168.222.158 / .159 / 10.68.4.200</a:t>
            </a:r>
            <a:endParaRPr sz="1125" b="0">
              <a:solidFill>
                <a:srgbClr val="24445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28625" y="257175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PG02</a:t>
            </a:r>
            <a:endParaRPr sz="1200" b="1">
              <a:solidFill>
                <a:srgbClr val="24445C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571625" y="2571750"/>
            <a:ext cx="3190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24445C"/>
                </a:solidFill>
              </a:defRPr>
            </a:pPr>
            <a:r>
              <a:rPr sz="1200" b="0">
                <a:solidFill>
                  <a:srgbClr val="24445C"/>
                </a:solidFill>
              </a:rPr>
              <a:t>公交排班主备库</a:t>
            </a:r>
            <a:endParaRPr sz="1200" b="0">
              <a:solidFill>
                <a:srgbClr val="24445C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762500" y="2571750"/>
            <a:ext cx="60483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4445C"/>
                </a:solidFill>
              </a:defRPr>
            </a:pPr>
            <a:r>
              <a:rPr sz="1125" b="0">
                <a:solidFill>
                  <a:srgbClr val="24445C"/>
                </a:solidFill>
              </a:rPr>
              <a:t>192.168.222.160 / .161</a:t>
            </a:r>
            <a:endParaRPr sz="1125" b="0">
              <a:solidFill>
                <a:srgbClr val="24445C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28625" y="302895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PG03</a:t>
            </a:r>
            <a:endParaRPr sz="1200" b="1">
              <a:solidFill>
                <a:srgbClr val="24445C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571625" y="3028950"/>
            <a:ext cx="3190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24445C"/>
                </a:solidFill>
              </a:defRPr>
            </a:pPr>
            <a:r>
              <a:rPr sz="1200" b="0">
                <a:solidFill>
                  <a:srgbClr val="24445C"/>
                </a:solidFill>
              </a:rPr>
              <a:t>公交派替主备库</a:t>
            </a:r>
            <a:endParaRPr sz="1200" b="0">
              <a:solidFill>
                <a:srgbClr val="24445C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762500" y="3028950"/>
            <a:ext cx="60483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D9E1E7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4445C"/>
                </a:solidFill>
              </a:defRPr>
            </a:pPr>
            <a:r>
              <a:rPr sz="1125" b="0">
                <a:solidFill>
                  <a:srgbClr val="24445C"/>
                </a:solidFill>
              </a:rPr>
              <a:t>192.168.225.74 / .77</a:t>
            </a:r>
            <a:endParaRPr sz="1125" b="0">
              <a:solidFill>
                <a:srgbClr val="24445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28625" y="3676650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4445C"/>
                </a:solidFill>
              </a:defRPr>
            </a:pPr>
            <a:r>
              <a:rPr sz="1500" b="1">
                <a:solidFill>
                  <a:srgbClr val="24445C"/>
                </a:solidFill>
              </a:rPr>
              <a:t>迁移关系</a:t>
            </a:r>
            <a:endParaRPr sz="1500" b="1">
              <a:solidFill>
                <a:srgbClr val="24445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71500" y="40290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60788A"/>
                </a:solidFill>
              </a:defRPr>
            </a:pPr>
            <a:r>
              <a:rPr sz="1275" b="1">
                <a:solidFill>
                  <a:srgbClr val="60788A"/>
                </a:solidFill>
              </a:rPr>
              <a:t>源集群</a:t>
            </a:r>
            <a:endParaRPr sz="1275" b="1">
              <a:solidFill>
                <a:srgbClr val="60788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762500" y="40290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60788A"/>
                </a:solidFill>
              </a:defRPr>
            </a:pPr>
            <a:r>
              <a:rPr sz="1275" b="1">
                <a:solidFill>
                  <a:srgbClr val="60788A"/>
                </a:solidFill>
              </a:rPr>
              <a:t>迁移集群</a:t>
            </a:r>
            <a:endParaRPr sz="1275" b="1">
              <a:solidFill>
                <a:srgbClr val="60788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72500" y="40290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60788A"/>
                </a:solidFill>
              </a:defRPr>
            </a:pPr>
            <a:r>
              <a:rPr sz="1275" b="1">
                <a:solidFill>
                  <a:srgbClr val="60788A"/>
                </a:solidFill>
              </a:rPr>
              <a:t>目标集群</a:t>
            </a:r>
            <a:endParaRPr sz="1275" b="1">
              <a:solidFill>
                <a:srgbClr val="60788A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71500" y="442912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EAF5FC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4445C"/>
                </a:solidFill>
              </a:defRPr>
            </a:pPr>
            <a:r>
              <a:rPr sz="1350" b="1">
                <a:solidFill>
                  <a:srgbClr val="24445C"/>
                </a:solidFill>
              </a:rPr>
              <a:t>pg01（PG16）</a:t>
            </a:r>
            <a:endParaRPr sz="1350" b="1">
              <a:solidFill>
                <a:srgbClr val="24445C"/>
              </a:solidFill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3048000" y="4562475"/>
            <a:ext cx="1428750" cy="228600"/>
          </a:xfrm>
          <a:prstGeom prst="rightArrow">
            <a:avLst/>
          </a:prstGeom>
          <a:solidFill>
            <a:srgbClr val="2F86C1"/>
          </a:solidFill>
          <a:ln w="13335">
            <a:solidFill>
              <a:srgbClr val="2F86C1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4667250" y="4429125"/>
            <a:ext cx="2381250" cy="495300"/>
          </a:xfrm>
          <a:prstGeom prst="roundRect">
            <a:avLst>
              <a:gd name="adj" fmla="val 15385"/>
            </a:avLst>
          </a:prstGeom>
          <a:solidFill>
            <a:srgbClr val="EAF5FC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4445C"/>
                </a:solidFill>
              </a:defRPr>
            </a:pPr>
            <a:r>
              <a:rPr sz="1350" b="1">
                <a:solidFill>
                  <a:srgbClr val="24445C"/>
                </a:solidFill>
              </a:rPr>
              <a:t>pg01_new（PG16）</a:t>
            </a:r>
            <a:endParaRPr sz="1350" b="1">
              <a:solidFill>
                <a:srgbClr val="24445C"/>
              </a:solidFill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7239000" y="4562475"/>
            <a:ext cx="1047750" cy="228600"/>
          </a:xfrm>
          <a:prstGeom prst="right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477250" y="4429125"/>
            <a:ext cx="2381250" cy="495300"/>
          </a:xfrm>
          <a:prstGeom prst="roundRect">
            <a:avLst>
              <a:gd name="adj" fmla="val 15385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4445C"/>
                </a:solidFill>
              </a:defRPr>
            </a:pPr>
            <a:r>
              <a:rPr sz="1350" b="1">
                <a:solidFill>
                  <a:srgbClr val="24445C"/>
                </a:solidFill>
              </a:rPr>
              <a:t>pg01_new（PG17）</a:t>
            </a:r>
            <a:endParaRPr sz="1350" b="1">
              <a:solidFill>
                <a:srgbClr val="24445C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71500" y="519112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4445C"/>
                </a:solidFill>
              </a:defRPr>
            </a:pPr>
            <a:r>
              <a:rPr sz="1350" b="1">
                <a:solidFill>
                  <a:srgbClr val="24445C"/>
                </a:solidFill>
              </a:rPr>
              <a:t>pg03（PG14）</a:t>
            </a:r>
            <a:endParaRPr sz="1350" b="1">
              <a:solidFill>
                <a:srgbClr val="24445C"/>
              </a:solidFill>
            </a:endParaRPr>
          </a:p>
        </p:txBody>
      </p:sp>
      <p:sp>
        <p:nvSpPr>
          <p:cNvPr id="34" name="右箭头 33"/>
          <p:cNvSpPr>
            <a:spLocks noGrp="1"/>
          </p:cNvSpPr>
          <p:nvPr/>
        </p:nvSpPr>
        <p:spPr>
          <a:xfrm>
            <a:off x="3048000" y="5324475"/>
            <a:ext cx="1428750" cy="228600"/>
          </a:xfrm>
          <a:prstGeom prst="right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4667250" y="5191125"/>
            <a:ext cx="2381250" cy="495300"/>
          </a:xfrm>
          <a:prstGeom prst="roundRect">
            <a:avLst>
              <a:gd name="adj" fmla="val 15385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4445C"/>
                </a:solidFill>
              </a:defRPr>
            </a:pPr>
            <a:r>
              <a:rPr sz="1350" b="1">
                <a:solidFill>
                  <a:srgbClr val="24445C"/>
                </a:solidFill>
              </a:rPr>
              <a:t>pg03_new（PG14）</a:t>
            </a:r>
            <a:endParaRPr sz="1350" b="1">
              <a:solidFill>
                <a:srgbClr val="24445C"/>
              </a:solidFill>
            </a:endParaRPr>
          </a:p>
        </p:txBody>
      </p:sp>
      <p:sp>
        <p:nvSpPr>
          <p:cNvPr id="36" name="右箭头 35"/>
          <p:cNvSpPr>
            <a:spLocks noGrp="1"/>
          </p:cNvSpPr>
          <p:nvPr/>
        </p:nvSpPr>
        <p:spPr>
          <a:xfrm>
            <a:off x="7239000" y="5324475"/>
            <a:ext cx="1047750" cy="228600"/>
          </a:xfrm>
          <a:prstGeom prst="right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8477250" y="5191125"/>
            <a:ext cx="2381250" cy="495300"/>
          </a:xfrm>
          <a:prstGeom prst="roundRect">
            <a:avLst>
              <a:gd name="adj" fmla="val 15385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4445C"/>
                </a:solidFill>
              </a:defRPr>
            </a:pPr>
            <a:r>
              <a:rPr sz="1350" b="1">
                <a:solidFill>
                  <a:srgbClr val="24445C"/>
                </a:solidFill>
              </a:rPr>
              <a:t>pg03_new（PG17）</a:t>
            </a:r>
            <a:endParaRPr sz="1350" b="1">
              <a:solidFill>
                <a:srgbClr val="24445C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429375" y="5905500"/>
            <a:ext cx="4000500" cy="4572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pg02（PG17）逻辑合并至 pg03_new</a:t>
            </a:r>
            <a:endParaRPr sz="1200" b="1">
              <a:solidFill>
                <a:srgbClr val="24445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7020" y="222934"/>
            <a:ext cx="10512862" cy="460375"/>
          </a:xfrm>
        </p:spPr>
        <p:txBody>
          <a:bodyPr/>
          <a:lstStyle/>
          <a:p>
            <a:r>
              <a:t>预检查决定能否进入正式窗口</a:t>
            </a:r>
          </a:p>
        </p:txBody>
      </p:sp>
      <p:sp>
        <p:nvSpPr>
          <p:cNvPr id="6" name="MH_Text_1"/>
          <p:cNvSpPr>
            <a:spLocks noGrp="1"/>
          </p:cNvSpPr>
          <p:nvPr/>
        </p:nvSpPr>
        <p:spPr>
          <a:xfrm>
            <a:off x="357020" y="931525"/>
            <a:ext cx="3277651" cy="2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3462" tIns="0" rIns="133462" bIns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None/>
            </a:pPr>
            <a:r>
              <a:rPr sz="1600" b="1"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rPr>
              <a:t>预演不通过即整改</a:t>
            </a:r>
            <a:endParaRPr sz="1600" b="1">
              <a:solidFill>
                <a:schemeClr val="tx1"/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13620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F86C1"/>
                </a:solidFill>
              </a:defRPr>
            </a:pPr>
            <a:r>
              <a:rPr sz="1500" b="1">
                <a:solidFill>
                  <a:srgbClr val="2F86C1"/>
                </a:solidFill>
              </a:rPr>
              <a:t>pg01 → pg01_new</a:t>
            </a:r>
            <a:endParaRPr sz="1500" b="1">
              <a:solidFill>
                <a:srgbClr val="2F86C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3620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3A9B5F"/>
                </a:solidFill>
              </a:defRPr>
            </a:pPr>
            <a:r>
              <a:rPr sz="1500" b="1">
                <a:solidFill>
                  <a:srgbClr val="3A9B5F"/>
                </a:solidFill>
              </a:rPr>
              <a:t>pg03  → pg03_new</a:t>
            </a:r>
            <a:endParaRPr sz="1500" b="1">
              <a:solidFill>
                <a:srgbClr val="3A9B5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43600" y="1666875"/>
            <a:ext cx="19050" cy="4238625"/>
          </a:xfrm>
          <a:prstGeom prst="rect">
            <a:avLst/>
          </a:prstGeom>
          <a:solidFill>
            <a:srgbClr val="D9E1E7"/>
          </a:solidFill>
          <a:ln w="13335">
            <a:solidFill>
              <a:srgbClr val="D9E1E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523875" y="1809750"/>
            <a:ext cx="4953000" cy="1095375"/>
          </a:xfrm>
          <a:prstGeom prst="roundRect">
            <a:avLst>
              <a:gd name="adj" fmla="val 6957"/>
            </a:avLst>
          </a:prstGeom>
          <a:solidFill>
            <a:srgbClr val="EAF5FC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>
                <a:sym typeface="+mn-ea"/>
              </a:rPr>
              <a:t> 盘点与逻辑合并预检</a:t>
            </a:r>
            <a:endParaRPr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>
                <a:sym typeface="+mn-ea"/>
              </a:rPr>
              <a:t>核对 扩展 / </a:t>
            </a:r>
            <a:r>
              <a:rPr lang="zh-CN">
                <a:sym typeface="+mn-ea"/>
              </a:rPr>
              <a:t>编译项</a:t>
            </a:r>
            <a:r>
              <a:rPr>
                <a:sym typeface="+mn-ea"/>
              </a:rPr>
              <a:t> / 校验和</a:t>
            </a:r>
            <a:endParaRPr sz="1275" b="0">
              <a:solidFill>
                <a:srgbClr val="24445C"/>
              </a:solidFill>
            </a:endParaRPr>
          </a:p>
        </p:txBody>
      </p:sp>
      <p:sp>
        <p:nvSpPr>
          <p:cNvPr id="11" name="下箭头 10"/>
          <p:cNvSpPr>
            <a:spLocks noGrp="1"/>
          </p:cNvSpPr>
          <p:nvPr/>
        </p:nvSpPr>
        <p:spPr>
          <a:xfrm>
            <a:off x="2733675" y="2952750"/>
            <a:ext cx="495300" cy="333375"/>
          </a:xfrm>
          <a:prstGeom prst="downArrow">
            <a:avLst/>
          </a:prstGeom>
          <a:solidFill>
            <a:srgbClr val="2F86C1"/>
          </a:solidFill>
          <a:ln w="13335">
            <a:solidFill>
              <a:srgbClr val="2F86C1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3875" y="3381375"/>
            <a:ext cx="4953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 建设 pg01_new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按源版本接入并建立物理复制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lang="zh-CN" sz="1275" b="0">
                <a:solidFill>
                  <a:srgbClr val="24445C"/>
                </a:solidFill>
              </a:rPr>
              <a:t>进行应用只读、链接可达性</a:t>
            </a:r>
            <a:r>
              <a:rPr lang="zh-CN" sz="1275" b="0">
                <a:solidFill>
                  <a:srgbClr val="24445C"/>
                </a:solidFill>
              </a:rPr>
              <a:t>验证</a:t>
            </a:r>
            <a:endParaRPr lang="zh-CN" sz="1275" b="0">
              <a:solidFill>
                <a:srgbClr val="24445C"/>
              </a:solidFill>
            </a:endParaRPr>
          </a:p>
        </p:txBody>
      </p:sp>
      <p:sp>
        <p:nvSpPr>
          <p:cNvPr id="13" name="下箭头 12"/>
          <p:cNvSpPr>
            <a:spLocks noGrp="1"/>
          </p:cNvSpPr>
          <p:nvPr/>
        </p:nvSpPr>
        <p:spPr>
          <a:xfrm>
            <a:off x="2733675" y="4429125"/>
            <a:ext cx="495300" cy="333375"/>
          </a:xfrm>
          <a:prstGeom prst="downArrow">
            <a:avLst/>
          </a:prstGeom>
          <a:solidFill>
            <a:srgbClr val="2F86C1"/>
          </a:solidFill>
          <a:ln w="13335">
            <a:solidFill>
              <a:srgbClr val="2F86C1"/>
            </a:solidFill>
            <a:prstDash val="solid"/>
          </a:ln>
        </p:spPr>
      </p:sp>
      <p:sp>
        <p:nvSpPr>
          <p:cNvPr id="14" name="菱形 13"/>
          <p:cNvSpPr>
            <a:spLocks noGrp="1"/>
          </p:cNvSpPr>
          <p:nvPr/>
        </p:nvSpPr>
        <p:spPr>
          <a:xfrm>
            <a:off x="2333625" y="4857750"/>
            <a:ext cx="1285875" cy="762000"/>
          </a:xfrm>
          <a:prstGeom prst="diamond">
            <a:avLst/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28875" y="5048250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预演通过？</a:t>
            </a:r>
            <a:endParaRPr sz="1200" b="1">
              <a:solidFill>
                <a:srgbClr val="24445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9125" y="50958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D9534F"/>
                </a:solidFill>
              </a:defRPr>
            </a:pPr>
            <a:r>
              <a:rPr sz="1050" b="1">
                <a:solidFill>
                  <a:srgbClr val="D9534F"/>
                </a:solidFill>
              </a:rPr>
              <a:t>否：整改后重试</a:t>
            </a:r>
            <a:endParaRPr sz="1050" b="1">
              <a:solidFill>
                <a:srgbClr val="D9534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29375" y="1809750"/>
            <a:ext cx="4953000" cy="1095375"/>
          </a:xfrm>
          <a:prstGeom prst="roundRect">
            <a:avLst>
              <a:gd name="adj" fmla="val 6957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 盘点与逻辑合并预检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核对 扩展 / </a:t>
            </a:r>
            <a:r>
              <a:rPr lang="zh-CN" sz="1275" b="0">
                <a:solidFill>
                  <a:srgbClr val="24445C"/>
                </a:solidFill>
              </a:rPr>
              <a:t>编译项</a:t>
            </a:r>
            <a:r>
              <a:rPr sz="1275" b="0">
                <a:solidFill>
                  <a:srgbClr val="24445C"/>
                </a:solidFill>
              </a:rPr>
              <a:t> / 校验和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检查 PG02 角色、数据库及冲突</a:t>
            </a:r>
            <a:endParaRPr sz="1275" b="0">
              <a:solidFill>
                <a:srgbClr val="24445C"/>
              </a:solidFill>
            </a:endParaRPr>
          </a:p>
        </p:txBody>
      </p:sp>
      <p:sp>
        <p:nvSpPr>
          <p:cNvPr id="18" name="下箭头 17"/>
          <p:cNvSpPr>
            <a:spLocks noGrp="1"/>
          </p:cNvSpPr>
          <p:nvPr/>
        </p:nvSpPr>
        <p:spPr>
          <a:xfrm>
            <a:off x="8639175" y="2952750"/>
            <a:ext cx="495300" cy="333375"/>
          </a:xfrm>
          <a:prstGeom prst="down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429375" y="3381375"/>
            <a:ext cx="4953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建设 pg03_new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>
                <a:sym typeface="+mn-ea"/>
              </a:rPr>
              <a:t>按源版本接入并建立物理复制</a:t>
            </a:r>
            <a:endParaRPr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lang="zh-CN">
                <a:sym typeface="+mn-ea"/>
              </a:rPr>
              <a:t>进行应用只读、链接可达性验证</a:t>
            </a:r>
            <a:endParaRPr sz="1275" b="0">
              <a:solidFill>
                <a:srgbClr val="24445C"/>
              </a:solidFill>
            </a:endParaRPr>
          </a:p>
        </p:txBody>
      </p:sp>
      <p:sp>
        <p:nvSpPr>
          <p:cNvPr id="20" name="下箭头 19"/>
          <p:cNvSpPr>
            <a:spLocks noGrp="1"/>
          </p:cNvSpPr>
          <p:nvPr/>
        </p:nvSpPr>
        <p:spPr>
          <a:xfrm>
            <a:off x="8639175" y="4429125"/>
            <a:ext cx="495300" cy="333375"/>
          </a:xfrm>
          <a:prstGeom prst="down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21" name="菱形 20"/>
          <p:cNvSpPr>
            <a:spLocks noGrp="1"/>
          </p:cNvSpPr>
          <p:nvPr/>
        </p:nvSpPr>
        <p:spPr>
          <a:xfrm>
            <a:off x="8239125" y="4857750"/>
            <a:ext cx="1285875" cy="762000"/>
          </a:xfrm>
          <a:prstGeom prst="diamond">
            <a:avLst/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334375" y="5048250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预演通过？</a:t>
            </a:r>
            <a:endParaRPr sz="1200" b="1">
              <a:solidFill>
                <a:srgbClr val="24445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67875" y="5095875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D9534F"/>
                </a:solidFill>
              </a:defRPr>
            </a:pPr>
            <a:r>
              <a:rPr sz="1050" b="1">
                <a:solidFill>
                  <a:srgbClr val="D9534F"/>
                </a:solidFill>
              </a:rPr>
              <a:t>否：整改后重试</a:t>
            </a:r>
            <a:endParaRPr sz="1050" b="1">
              <a:solidFill>
                <a:srgbClr val="D9534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857625" y="5953125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28C28"/>
                </a:solidFill>
              </a:defRPr>
            </a:pPr>
            <a:r>
              <a:rPr sz="1425" b="1">
                <a:solidFill>
                  <a:srgbClr val="F28C28"/>
                </a:solidFill>
              </a:rPr>
              <a:t>通过后进入正式停机窗口</a:t>
            </a:r>
            <a:endParaRPr sz="1425" b="1">
              <a:solidFill>
                <a:srgbClr val="F28C2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7020" y="222934"/>
            <a:ext cx="10512862" cy="460375"/>
          </a:xfrm>
        </p:spPr>
        <p:txBody>
          <a:bodyPr/>
          <a:lstStyle/>
          <a:p>
            <a:r>
              <a:t>正式停机后仅由 Leader 执行升级</a:t>
            </a:r>
          </a:p>
        </p:txBody>
      </p:sp>
      <p:sp>
        <p:nvSpPr>
          <p:cNvPr id="6" name="MH_Text_1"/>
          <p:cNvSpPr>
            <a:spLocks noGrp="1"/>
          </p:cNvSpPr>
          <p:nvPr/>
        </p:nvSpPr>
        <p:spPr>
          <a:xfrm>
            <a:off x="357020" y="931525"/>
            <a:ext cx="3277651" cy="2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3462" tIns="0" rIns="133462" bIns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None/>
            </a:pPr>
            <a:r>
              <a:rPr sz="1600" b="1"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rPr>
              <a:t>冻结、快照、升级、验证依次闭环</a:t>
            </a:r>
            <a:endParaRPr sz="1600" b="1">
              <a:solidFill>
                <a:schemeClr val="tx1"/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13620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F86C1"/>
                </a:solidFill>
              </a:defRPr>
            </a:pPr>
            <a:r>
              <a:rPr sz="1500" b="1">
                <a:solidFill>
                  <a:srgbClr val="2F86C1"/>
                </a:solidFill>
              </a:rPr>
              <a:t>A 轨：pg01_new</a:t>
            </a:r>
            <a:endParaRPr sz="1500" b="1">
              <a:solidFill>
                <a:srgbClr val="2F86C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3620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3A9B5F"/>
                </a:solidFill>
              </a:defRPr>
            </a:pPr>
            <a:r>
              <a:rPr sz="1500" b="1">
                <a:solidFill>
                  <a:srgbClr val="3A9B5F"/>
                </a:solidFill>
              </a:rPr>
              <a:t>B 轨：pg03_new</a:t>
            </a:r>
            <a:endParaRPr sz="1500" b="1">
              <a:solidFill>
                <a:srgbClr val="3A9B5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43600" y="1666875"/>
            <a:ext cx="19050" cy="4238625"/>
          </a:xfrm>
          <a:prstGeom prst="rect">
            <a:avLst/>
          </a:prstGeom>
          <a:solidFill>
            <a:srgbClr val="D9E1E7"/>
          </a:solidFill>
          <a:ln w="13335">
            <a:solidFill>
              <a:srgbClr val="D9E1E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523875" y="1809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停机与 Leader 升级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① 验证数据、应用只读、连接正常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② 冻结写入并确认 WAL 追平</a:t>
            </a:r>
            <a:r>
              <a:rPr lang="zh-CN" sz="1275" b="0">
                <a:solidFill>
                  <a:srgbClr val="24445C"/>
                </a:solidFill>
              </a:rPr>
              <a:t>，旧集群停服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③ 完成快照，仅 Leader 执行 pg_upgrade</a:t>
            </a:r>
            <a:r>
              <a:rPr lang="zh-CN" sz="1275" b="0">
                <a:solidFill>
                  <a:srgbClr val="24445C"/>
                </a:solidFill>
              </a:rPr>
              <a:t>，从只需更换</a:t>
            </a:r>
            <a:r>
              <a:rPr lang="zh-CN" sz="1275" b="0">
                <a:solidFill>
                  <a:srgbClr val="24445C"/>
                </a:solidFill>
              </a:rPr>
              <a:t>软连接</a:t>
            </a:r>
            <a:endParaRPr lang="zh-CN" sz="1275" b="0">
              <a:solidFill>
                <a:srgbClr val="24445C"/>
              </a:solidFill>
            </a:endParaRPr>
          </a:p>
        </p:txBody>
      </p:sp>
      <p:sp>
        <p:nvSpPr>
          <p:cNvPr id="11" name="下箭头 10"/>
          <p:cNvSpPr>
            <a:spLocks noGrp="1"/>
          </p:cNvSpPr>
          <p:nvPr/>
        </p:nvSpPr>
        <p:spPr>
          <a:xfrm>
            <a:off x="2733675" y="3286125"/>
            <a:ext cx="495300" cy="333375"/>
          </a:xfrm>
          <a:prstGeom prst="downArrow">
            <a:avLst/>
          </a:prstGeom>
          <a:solidFill>
            <a:srgbClr val="2F86C1"/>
          </a:solidFill>
          <a:ln w="13335">
            <a:solidFill>
              <a:srgbClr val="2F86C1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3875" y="371475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EAF5FC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升级验证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版本 / 扩展 / 数据库状态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Leader 启动与基础读写</a:t>
            </a:r>
            <a:endParaRPr sz="1275" b="0">
              <a:solidFill>
                <a:srgbClr val="24445C"/>
              </a:solidFill>
            </a:endParaRPr>
          </a:p>
        </p:txBody>
      </p:sp>
      <p:sp>
        <p:nvSpPr>
          <p:cNvPr id="13" name="菱形 12"/>
          <p:cNvSpPr>
            <a:spLocks noGrp="1"/>
          </p:cNvSpPr>
          <p:nvPr/>
        </p:nvSpPr>
        <p:spPr>
          <a:xfrm>
            <a:off x="2333625" y="5095875"/>
            <a:ext cx="1285875" cy="742950"/>
          </a:xfrm>
          <a:prstGeom prst="diamond">
            <a:avLst/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428875" y="5276850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读写验证</a:t>
            </a:r>
            <a:endParaRPr sz="1200" b="1">
              <a:solidFill>
                <a:srgbClr val="24445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" y="52863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D9534F"/>
                </a:solidFill>
              </a:defRPr>
            </a:pPr>
            <a:r>
              <a:rPr sz="1050" b="1">
                <a:solidFill>
                  <a:srgbClr val="D9534F"/>
                </a:solidFill>
              </a:rPr>
              <a:t>否：整改后重试</a:t>
            </a:r>
            <a:endParaRPr sz="1050" b="1">
              <a:solidFill>
                <a:srgbClr val="D9534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429375" y="1809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 停机与 Leader 升级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① 验证数据、应用只读、连接正常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>
                <a:sym typeface="+mn-ea"/>
              </a:rPr>
              <a:t>② 冻结写入并确认 WAL 追平</a:t>
            </a:r>
            <a:r>
              <a:rPr lang="zh-CN">
                <a:sym typeface="+mn-ea"/>
              </a:rPr>
              <a:t>，旧集群停服</a:t>
            </a:r>
            <a:endParaRPr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>
                <a:sym typeface="+mn-ea"/>
              </a:rPr>
              <a:t>③ 完成快照，仅 Leader 执行 pg_upgrade</a:t>
            </a:r>
            <a:r>
              <a:rPr lang="zh-CN">
                <a:sym typeface="+mn-ea"/>
              </a:rPr>
              <a:t>，从只需更换软连接</a:t>
            </a:r>
            <a:endParaRPr sz="1275" b="0">
              <a:solidFill>
                <a:srgbClr val="24445C"/>
              </a:solidFill>
            </a:endParaRPr>
          </a:p>
        </p:txBody>
      </p:sp>
      <p:sp>
        <p:nvSpPr>
          <p:cNvPr id="17" name="下箭头 16"/>
          <p:cNvSpPr>
            <a:spLocks noGrp="1"/>
          </p:cNvSpPr>
          <p:nvPr/>
        </p:nvSpPr>
        <p:spPr>
          <a:xfrm>
            <a:off x="8639175" y="3286125"/>
            <a:ext cx="495300" cy="333375"/>
          </a:xfrm>
          <a:prstGeom prst="down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429375" y="371475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同步完成 PG02 逻辑导入准备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冲突项先解决再导入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endParaRPr sz="1275" b="0">
              <a:solidFill>
                <a:srgbClr val="24445C"/>
              </a:solidFill>
            </a:endParaRPr>
          </a:p>
        </p:txBody>
      </p:sp>
      <p:sp>
        <p:nvSpPr>
          <p:cNvPr id="19" name="菱形 18"/>
          <p:cNvSpPr>
            <a:spLocks noGrp="1"/>
          </p:cNvSpPr>
          <p:nvPr/>
        </p:nvSpPr>
        <p:spPr>
          <a:xfrm>
            <a:off x="8239125" y="5095875"/>
            <a:ext cx="1285875" cy="742950"/>
          </a:xfrm>
          <a:prstGeom prst="diamond">
            <a:avLst/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34375" y="5276850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445C"/>
                </a:solidFill>
              </a:defRPr>
            </a:pPr>
            <a:r>
              <a:rPr sz="1200" b="1">
                <a:solidFill>
                  <a:srgbClr val="24445C"/>
                </a:solidFill>
              </a:rPr>
              <a:t>读写验证</a:t>
            </a:r>
            <a:endParaRPr sz="1200" b="1">
              <a:solidFill>
                <a:srgbClr val="24445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667875" y="5286375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D9534F"/>
                </a:solidFill>
              </a:defRPr>
            </a:pPr>
            <a:r>
              <a:rPr sz="1050" b="1">
                <a:solidFill>
                  <a:srgbClr val="D9534F"/>
                </a:solidFill>
              </a:rPr>
              <a:t>否：整改后重试</a:t>
            </a:r>
            <a:endParaRPr sz="1050" b="1">
              <a:solidFill>
                <a:srgbClr val="D9534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7020" y="222934"/>
            <a:ext cx="10512862" cy="460375"/>
          </a:xfrm>
        </p:spPr>
        <p:txBody>
          <a:bodyPr/>
          <a:lstStyle/>
          <a:p>
            <a:r>
              <a:t>升级后恢复 Patroni 并重建 Replica</a:t>
            </a:r>
          </a:p>
        </p:txBody>
      </p:sp>
      <p:sp>
        <p:nvSpPr>
          <p:cNvPr id="6" name="MH_Text_1"/>
          <p:cNvSpPr>
            <a:spLocks noGrp="1"/>
          </p:cNvSpPr>
          <p:nvPr/>
        </p:nvSpPr>
        <p:spPr>
          <a:xfrm>
            <a:off x="357020" y="931525"/>
            <a:ext cx="3277651" cy="2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3462" tIns="0" rIns="133462" bIns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None/>
            </a:pPr>
            <a:r>
              <a:rPr sz="1600" b="1"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rPr>
              <a:t>Leader 先恢复，Replica 再统一重建</a:t>
            </a:r>
            <a:endParaRPr sz="1600" b="1">
              <a:solidFill>
                <a:schemeClr val="tx1"/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76250" y="13620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F86C1"/>
                </a:solidFill>
              </a:defRPr>
            </a:pPr>
            <a:r>
              <a:rPr sz="1500" b="1">
                <a:solidFill>
                  <a:srgbClr val="2F86C1"/>
                </a:solidFill>
              </a:rPr>
              <a:t>pg01_new 恢复路径</a:t>
            </a:r>
            <a:endParaRPr sz="1500" b="1">
              <a:solidFill>
                <a:srgbClr val="2F86C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3620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3A9B5F"/>
                </a:solidFill>
              </a:defRPr>
            </a:pPr>
            <a:r>
              <a:rPr sz="1500" b="1">
                <a:solidFill>
                  <a:srgbClr val="3A9B5F"/>
                </a:solidFill>
              </a:rPr>
              <a:t>pg03_new 恢复路径</a:t>
            </a:r>
            <a:endParaRPr sz="1500" b="1">
              <a:solidFill>
                <a:srgbClr val="3A9B5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43600" y="1666875"/>
            <a:ext cx="19050" cy="4238625"/>
          </a:xfrm>
          <a:prstGeom prst="rect">
            <a:avLst/>
          </a:prstGeom>
          <a:solidFill>
            <a:srgbClr val="D9E1E7"/>
          </a:solidFill>
          <a:ln w="13335">
            <a:solidFill>
              <a:srgbClr val="D9E1E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523875" y="1857375"/>
            <a:ext cx="4953000" cy="1285875"/>
          </a:xfrm>
          <a:prstGeom prst="roundRect">
            <a:avLst>
              <a:gd name="adj" fmla="val 5926"/>
            </a:avLst>
          </a:prstGeom>
          <a:solidFill>
            <a:srgbClr val="EAF5FC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Patroni 恢复与 Replica 重建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启动升级后的 Leader 并检查集群状态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Replica 统一通过 Patroni reinit 重建</a:t>
            </a:r>
            <a:endParaRPr sz="1350" b="0">
              <a:solidFill>
                <a:srgbClr val="24445C"/>
              </a:solidFill>
            </a:endParaRPr>
          </a:p>
        </p:txBody>
      </p:sp>
      <p:sp>
        <p:nvSpPr>
          <p:cNvPr id="11" name="下箭头 10"/>
          <p:cNvSpPr>
            <a:spLocks noGrp="1"/>
          </p:cNvSpPr>
          <p:nvPr/>
        </p:nvSpPr>
        <p:spPr>
          <a:xfrm>
            <a:off x="2733675" y="3238500"/>
            <a:ext cx="495300" cy="342900"/>
          </a:xfrm>
          <a:prstGeom prst="downArrow">
            <a:avLst/>
          </a:prstGeom>
          <a:solidFill>
            <a:srgbClr val="2F86C1"/>
          </a:solidFill>
          <a:ln w="13335">
            <a:solidFill>
              <a:srgbClr val="2F86C1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3875" y="371475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检查项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Leader 健康 · DCS 状态 · WAL 连续性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Replica streaming · 延迟在阈值内</a:t>
            </a:r>
            <a:endParaRPr sz="1275" b="0">
              <a:solidFill>
                <a:srgbClr val="24445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29375" y="1857375"/>
            <a:ext cx="4953000" cy="1285875"/>
          </a:xfrm>
          <a:prstGeom prst="roundRect">
            <a:avLst>
              <a:gd name="adj" fmla="val 5926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 Patroni 恢复与 Replica 重建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启动升级后的 Leader 并检查集群状态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Replica 统一通过 Patroni reinit 重建</a:t>
            </a:r>
            <a:endParaRPr sz="1350" b="0">
              <a:solidFill>
                <a:srgbClr val="24445C"/>
              </a:solidFill>
            </a:endParaRPr>
          </a:p>
        </p:txBody>
      </p:sp>
      <p:sp>
        <p:nvSpPr>
          <p:cNvPr id="14" name="下箭头 13"/>
          <p:cNvSpPr>
            <a:spLocks noGrp="1"/>
          </p:cNvSpPr>
          <p:nvPr/>
        </p:nvSpPr>
        <p:spPr>
          <a:xfrm>
            <a:off x="8639175" y="3238500"/>
            <a:ext cx="495300" cy="342900"/>
          </a:xfrm>
          <a:prstGeom prst="down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6429375" y="3714750"/>
            <a:ext cx="4953000" cy="1143000"/>
          </a:xfrm>
          <a:prstGeom prst="roundRect">
            <a:avLst>
              <a:gd name="adj" fmla="val 6667"/>
            </a:avLst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PG02 逻辑导入 pg03_new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失败：解决冲突并重来</a:t>
            </a:r>
            <a:endParaRPr sz="1275" b="0">
              <a:solidFill>
                <a:srgbClr val="24445C"/>
              </a:solidFill>
            </a:endParaRPr>
          </a:p>
          <a:p>
            <a:pPr algn="ctr">
              <a:defRPr sz="1275" b="0">
                <a:solidFill>
                  <a:srgbClr val="24445C"/>
                </a:solidFill>
              </a:defRPr>
            </a:pPr>
            <a:r>
              <a:rPr sz="1275" b="0">
                <a:solidFill>
                  <a:srgbClr val="24445C"/>
                </a:solidFill>
              </a:rPr>
              <a:t>成功：执行对象、权限与数据校验</a:t>
            </a:r>
            <a:endParaRPr sz="1275" b="0">
              <a:solidFill>
                <a:srgbClr val="24445C"/>
              </a:solidFill>
            </a:endParaRPr>
          </a:p>
        </p:txBody>
      </p:sp>
      <p:sp>
        <p:nvSpPr>
          <p:cNvPr id="16" name="下箭头 15"/>
          <p:cNvSpPr>
            <a:spLocks noGrp="1"/>
          </p:cNvSpPr>
          <p:nvPr/>
        </p:nvSpPr>
        <p:spPr>
          <a:xfrm>
            <a:off x="8639175" y="4953000"/>
            <a:ext cx="495300" cy="342900"/>
          </a:xfrm>
          <a:prstGeom prst="down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3333750" y="5572125"/>
            <a:ext cx="5524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F28C28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4445C"/>
                </a:solidFill>
              </a:defRPr>
            </a:pPr>
            <a:r>
              <a:rPr sz="1500" b="1">
                <a:solidFill>
                  <a:srgbClr val="24445C"/>
                </a:solidFill>
              </a:rPr>
              <a:t>两条路径均健康后进入统一验收</a:t>
            </a:r>
            <a:endParaRPr sz="1500" b="1">
              <a:solidFill>
                <a:srgbClr val="24445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7020" y="222934"/>
            <a:ext cx="10512862" cy="460375"/>
          </a:xfrm>
        </p:spPr>
        <p:txBody>
          <a:bodyPr/>
          <a:lstStyle/>
          <a:p>
            <a:r>
              <a:t>统一验收后切换应用流量</a:t>
            </a:r>
          </a:p>
        </p:txBody>
      </p:sp>
      <p:sp>
        <p:nvSpPr>
          <p:cNvPr id="6" name="MH_Text_1"/>
          <p:cNvSpPr>
            <a:spLocks noGrp="1"/>
          </p:cNvSpPr>
          <p:nvPr/>
        </p:nvSpPr>
        <p:spPr>
          <a:xfrm>
            <a:off x="357020" y="931525"/>
            <a:ext cx="3277651" cy="290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3462" tIns="0" rIns="133462" bIns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None/>
            </a:pPr>
            <a:r>
              <a:rPr sz="1600" b="1">
                <a:solidFill>
                  <a:schemeClr val="tx1"/>
                </a:solidFill>
                <a:latin typeface="阿里巴巴普惠体"/>
                <a:ea typeface="阿里巴巴普惠体"/>
                <a:cs typeface="阿里巴巴普惠体"/>
              </a:rPr>
              <a:t>验证汇合，通过后切流并观察</a:t>
            </a:r>
            <a:endParaRPr sz="1600" b="1">
              <a:solidFill>
                <a:schemeClr val="tx1"/>
              </a:solidFill>
              <a:latin typeface="阿里巴巴普惠体"/>
              <a:ea typeface="阿里巴巴普惠体"/>
              <a:cs typeface="阿里巴巴普惠体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147637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F86C1"/>
                </a:solidFill>
              </a:defRPr>
            </a:pPr>
            <a:r>
              <a:rPr sz="1500" b="1">
                <a:solidFill>
                  <a:srgbClr val="2F86C1"/>
                </a:solidFill>
              </a:rPr>
              <a:t>技术验收</a:t>
            </a:r>
            <a:endParaRPr sz="1500" b="1">
              <a:solidFill>
                <a:srgbClr val="2F86C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29125" y="147637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3A9B5F"/>
                </a:solidFill>
              </a:defRPr>
            </a:pPr>
            <a:r>
              <a:rPr sz="1500" b="1">
                <a:solidFill>
                  <a:srgbClr val="3A9B5F"/>
                </a:solidFill>
              </a:rPr>
              <a:t>业务验收</a:t>
            </a:r>
            <a:endParaRPr sz="1500" b="1">
              <a:solidFill>
                <a:srgbClr val="3A9B5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34375" y="14763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8C28"/>
                </a:solidFill>
              </a:defRPr>
            </a:pPr>
            <a:r>
              <a:rPr sz="1500" b="1">
                <a:solidFill>
                  <a:srgbClr val="F28C28"/>
                </a:solidFill>
              </a:rPr>
              <a:t>切换与观察</a:t>
            </a:r>
            <a:endParaRPr sz="1500" b="1">
              <a:solidFill>
                <a:srgbClr val="F28C28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23875" y="1952625"/>
            <a:ext cx="3048000" cy="1762125"/>
          </a:xfrm>
          <a:prstGeom prst="roundRect">
            <a:avLst>
              <a:gd name="adj" fmla="val 4324"/>
            </a:avLst>
          </a:prstGeom>
          <a:solidFill>
            <a:srgbClr val="EAF5FC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Patroni / DCS 正常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Leader 唯一、Replica 同步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扩展与权限完整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监控与告警恢复</a:t>
            </a:r>
            <a:endParaRPr sz="1350" b="0">
              <a:solidFill>
                <a:srgbClr val="24445C"/>
              </a:solidFill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714750" y="2638425"/>
            <a:ext cx="523875" cy="285750"/>
          </a:xfrm>
          <a:prstGeom prst="rightArrow">
            <a:avLst/>
          </a:prstGeom>
          <a:solidFill>
            <a:srgbClr val="2F86C1"/>
          </a:solidFill>
          <a:ln w="13335">
            <a:solidFill>
              <a:srgbClr val="2F86C1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429125" y="1952625"/>
            <a:ext cx="3048000" cy="1762125"/>
          </a:xfrm>
          <a:prstGeom prst="roundRect">
            <a:avLst>
              <a:gd name="adj" fmla="val 4324"/>
            </a:avLst>
          </a:prstGeom>
          <a:solidFill>
            <a:srgbClr val="EDF7EA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核心业务读写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关键查询与批处理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数据抽样与行数核对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应用连接池验证</a:t>
            </a:r>
            <a:endParaRPr sz="1350" b="0">
              <a:solidFill>
                <a:srgbClr val="24445C"/>
              </a:solidFill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7620000" y="2638425"/>
            <a:ext cx="523875" cy="285750"/>
          </a:xfrm>
          <a:prstGeom prst="rightArrow">
            <a:avLst/>
          </a:prstGeom>
          <a:solidFill>
            <a:srgbClr val="3A9B5F"/>
          </a:solidFill>
          <a:ln w="13335">
            <a:solidFill>
              <a:srgbClr val="3A9B5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34375" y="1952625"/>
            <a:ext cx="2857500" cy="1762125"/>
          </a:xfrm>
          <a:prstGeom prst="roundRect">
            <a:avLst>
              <a:gd name="adj" fmla="val 4324"/>
            </a:avLst>
          </a:prstGeom>
          <a:solidFill>
            <a:srgbClr val="FFF2CC"/>
          </a:solidFill>
          <a:ln w="13335">
            <a:solidFill>
              <a:srgbClr val="E8A11A"/>
            </a:solidFill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切换应用流量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持续观察错误率 / 延迟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保留回退窗口</a:t>
            </a:r>
            <a:endParaRPr sz="1350" b="0">
              <a:solidFill>
                <a:srgbClr val="24445C"/>
              </a:solidFill>
            </a:endParaRPr>
          </a:p>
          <a:p>
            <a:pPr algn="ctr">
              <a:defRPr sz="1350" b="0">
                <a:solidFill>
                  <a:srgbClr val="24445C"/>
                </a:solidFill>
              </a:defRPr>
            </a:pPr>
            <a:r>
              <a:rPr sz="1350" b="0">
                <a:solidFill>
                  <a:srgbClr val="24445C"/>
                </a:solidFill>
              </a:rPr>
              <a:t>完成变更记录</a:t>
            </a:r>
            <a:endParaRPr sz="1350" b="0">
              <a:solidFill>
                <a:srgbClr val="24445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3875" y="409575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4445C"/>
                </a:solidFill>
              </a:defRPr>
            </a:pPr>
            <a:r>
              <a:rPr sz="1500" b="1">
                <a:solidFill>
                  <a:srgbClr val="24445C"/>
                </a:solidFill>
              </a:rPr>
              <a:t>统一完成条件</a:t>
            </a:r>
            <a:endParaRPr sz="1500" b="1">
              <a:solidFill>
                <a:srgbClr val="24445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23875" y="457200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4445C"/>
                </a:solidFill>
              </a:defRPr>
            </a:pPr>
            <a:r>
              <a:rPr sz="1275" b="1">
                <a:solidFill>
                  <a:srgbClr val="24445C"/>
                </a:solidFill>
              </a:rPr>
              <a:t>✓ pg01_new（PG17）通过验收</a:t>
            </a:r>
            <a:endParaRPr sz="1275" b="1">
              <a:solidFill>
                <a:srgbClr val="24445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857875" y="457200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2F86C1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4445C"/>
                </a:solidFill>
              </a:defRPr>
            </a:pPr>
            <a:r>
              <a:rPr sz="1275" b="1">
                <a:solidFill>
                  <a:srgbClr val="24445C"/>
                </a:solidFill>
              </a:rPr>
              <a:t>✓ pg03_new（PG17）通过验收</a:t>
            </a:r>
            <a:endParaRPr sz="1275" b="1">
              <a:solidFill>
                <a:srgbClr val="24445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23875" y="528637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4445C"/>
                </a:solidFill>
              </a:defRPr>
            </a:pPr>
            <a:r>
              <a:rPr sz="1275" b="1">
                <a:solidFill>
                  <a:srgbClr val="24445C"/>
                </a:solidFill>
              </a:rPr>
              <a:t>✓ PG02 已逻辑合并并完成冲突校验</a:t>
            </a:r>
            <a:endParaRPr sz="1275" b="1">
              <a:solidFill>
                <a:srgbClr val="24445C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857875" y="5286375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3A9B5F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4445C"/>
                </a:solidFill>
              </a:defRPr>
            </a:pPr>
            <a:r>
              <a:rPr sz="1275" b="1">
                <a:solidFill>
                  <a:srgbClr val="24445C"/>
                </a:solidFill>
              </a:rPr>
              <a:t>✓ 备份、恢复、监控与回退方案可用</a:t>
            </a:r>
            <a:endParaRPr sz="1275" b="1">
              <a:solidFill>
                <a:srgbClr val="24445C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095500" y="6000750"/>
            <a:ext cx="7810500" cy="45720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3335">
            <a:solidFill>
              <a:srgbClr val="F28C28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4445C"/>
                </a:solidFill>
              </a:defRPr>
            </a:pPr>
            <a:r>
              <a:rPr sz="1350" b="1">
                <a:solidFill>
                  <a:srgbClr val="24445C"/>
                </a:solidFill>
              </a:rPr>
              <a:t>验收失败：回到对应整改节点；全部通过：切流并进入稳定性观察</a:t>
            </a:r>
            <a:endParaRPr sz="1350" b="1">
              <a:solidFill>
                <a:srgbClr val="24445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020" y="222934"/>
            <a:ext cx="10512862" cy="460375"/>
          </a:xfrm>
        </p:spPr>
        <p:txBody>
          <a:bodyPr/>
          <a:p>
            <a:r>
              <a:rPr lang="zh-CN" altLang="en-US"/>
              <a:t>技术流程</a:t>
            </a:r>
            <a:r>
              <a:rPr lang="zh-CN" altLang="en-US"/>
              <a:t>示意图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9963"/>
          <a:stretch>
            <a:fillRect/>
          </a:stretch>
        </p:blipFill>
        <p:spPr>
          <a:xfrm>
            <a:off x="509905" y="873125"/>
            <a:ext cx="4925695" cy="54889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阿里巴巴普惠体"/>
        <a:ea typeface=""/>
        <a:cs typeface=""/>
        <a:font script="Jpan" typeface="メイリオ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メイリオ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自定义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9000"/>
      </a:accent1>
      <a:accent2>
        <a:srgbClr val="1C2087"/>
      </a:accent2>
      <a:accent3>
        <a:srgbClr val="939393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自定义 13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渐变底色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阿里巴巴普惠体"/>
        <a:ea typeface=""/>
        <a:cs typeface=""/>
        <a:font script="Jpan" typeface="メイリオ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メイリオ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自定义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9000"/>
      </a:accent1>
      <a:accent2>
        <a:srgbClr val="1C2087"/>
      </a:accent2>
      <a:accent3>
        <a:srgbClr val="939393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自定义 13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默认主题">
  <a:themeElements>
    <a:clrScheme name="自定义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9000"/>
      </a:accent1>
      <a:accent2>
        <a:srgbClr val="1C2087"/>
      </a:accent2>
      <a:accent3>
        <a:srgbClr val="939393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自定义 13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阿里巴巴普惠体"/>
        <a:ea typeface=""/>
        <a:cs typeface=""/>
        <a:font script="Jpan" typeface="メイリオ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メイリオ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WPS 演示</Application>
  <PresentationFormat>Converted Presentation</PresentationFormat>
  <Paragraphs>184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阿里巴巴普惠体</vt:lpstr>
      <vt:lpstr>阿里巴巴普惠体 R</vt:lpstr>
      <vt:lpstr>Arial</vt:lpstr>
      <vt:lpstr>微软雅黑</vt:lpstr>
      <vt:lpstr>KSOFCACA0B71</vt:lpstr>
      <vt:lpstr>Segoe Print</vt:lpstr>
      <vt:lpstr>KSOF35E558B0</vt:lpstr>
      <vt:lpstr>Arial Unicode MS</vt:lpstr>
      <vt:lpstr>阿里巴巴普惠体</vt:lpstr>
      <vt:lpstr>1_自定义设计方案</vt:lpstr>
      <vt:lpstr>默认主题</vt:lpstr>
      <vt:lpstr>渐变底色</vt:lpstr>
      <vt:lpstr>1_默认主题</vt:lpstr>
      <vt:lpstr>2_默认主题</vt:lpstr>
      <vt:lpstr>迁移对象、范围与目标拓扑</vt:lpstr>
      <vt:lpstr>预检查决定能否进入正式窗口</vt:lpstr>
      <vt:lpstr>正式停机后仅由 Leader 执行升级</vt:lpstr>
      <vt:lpstr>升级后恢复 Patroni 并重建 Replica</vt:lpstr>
      <vt:lpstr>统一验收后切换应用流量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迁移对象、范围与目标拓扑</dc:title>
  <dc:creator>Walnut Exporter</dc:creator>
  <cp:lastModifiedBy>玩笑</cp:lastModifiedBy>
  <cp:revision>1</cp:revision>
  <dcterms:created xsi:type="dcterms:W3CDTF">2026-07-20T09:20:13Z</dcterms:created>
  <dcterms:modified xsi:type="dcterms:W3CDTF">2026-07-20T09:20:13Z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3E2C5D86CCDD4C63B61312208D2711DA_12</vt:lpwstr>
  </property>
</Properties>
</file>